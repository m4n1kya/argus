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2" r:id="rId2"/>
    <p:sldMasterId id="2147483650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795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945F-F86E-3DE3-110E-4FE47212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127CC-48D2-E4D3-0695-F66C9E677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2D306-F1C5-3466-5823-9B275D4B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C3554-60BC-0D31-4894-B4DB84A6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D4534-DFB9-413F-97AC-8CC8FAC6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3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3E55-A34A-148B-2CC4-72EA0FF5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6CA59-EEA9-19E6-8FC3-026E91104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606A-32D8-DEDF-EFA8-AFE6EAE27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D9813-AFFA-E4A1-E5CF-D537800E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B505-6FFF-B973-D22E-FEF46C4A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92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253C-3A68-A402-6B3C-BC95F80FB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3C845-1196-6F2B-A766-8F8FC3C3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1E67A-D0CD-17E9-A219-3D361942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E8F2E-548D-E759-E02B-98C64D89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E11F6-C0B7-637C-32CF-36D84322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5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207C-AB24-1BD4-77FC-335A69C4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4605-692E-1646-5C0D-B2C124300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61EDA-A310-93CD-B48F-0A4F6CCD2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DC290-54BA-FEF8-16F1-9C5670A8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85279-CC9A-A7F2-FC4A-C17FA5FE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E38AD-DD5B-8319-5487-5FD16FEA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21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9533-82A0-FCCA-C5DA-D60305B79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D81E9-EBD8-9011-2F14-615D27899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F19AC-2F3A-3A6A-1C59-5F2919916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AFA55-8657-2441-78FB-97738856F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D7BF3F-1090-C643-6B65-B3B9B16CB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62B09-7DC6-9165-9A70-320B861D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A7E04-9474-F783-F316-046866AD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5D2F6-7D89-8C86-E8EA-C949464E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60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B1F8-41CF-BFB7-36BC-7FA7D1BD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20432-A835-C68D-C2FC-EDE3111C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6EFE-F25B-6F74-5BAA-D423A847B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C20F0-B0B4-2AB3-209D-EDD83D94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00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0B2C8-FFB9-2FBD-D5A5-CF820E275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EC9B2-4125-73EF-886F-C3847635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47D3A-6E2C-F9C4-1D71-5633A56A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1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B9C1-6138-8C2F-5859-A8DFF19B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FA8EB-6700-03FD-B73E-4250855D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86AF4-F724-8159-7CA6-E4A8257F4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E4D6D-394B-8F9B-E3F7-B08B98AB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F757E-DC8B-3CE1-2A52-BEDF64AD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21D02-E94B-5C31-DDB5-E68C1103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268-C95D-548D-B199-A48EE032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9AFD8-2420-6D0D-6918-625A231C1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CB5BC-5404-24CC-E467-F77D19C7D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2309B-91EF-E45C-9CCC-4C19CEB0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76242-6E1A-3FD4-88D8-AF305D2C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A4445-9DFC-2347-40B8-74F7E71D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1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E076-241B-EBF0-D8C6-3A0BC880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5335B-A3FB-099B-02D8-135FB1C3E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683FB-E627-DDC6-06F3-2813CB71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2DC32-4CCB-4792-8C75-68FF0744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F471-63EA-610C-92AC-37237C0A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965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D96CC2-7D05-D492-CE9E-CEA83A34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A0307-2AE4-1D41-83A5-00858733B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706AF-D10F-F7E9-0250-3641CE4C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F25D8-189B-1250-92FB-95EFB62C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1A808-0F07-D5D6-8CC5-5985BA461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9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0832-4959-685B-2EC3-E68235E36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1007C-F437-E186-EE9B-5F19E3329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FBFD2-8929-5C1A-7DB0-9BD9089C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B0193-C2F8-C333-A513-9416B024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F630F-BFE4-0371-4464-675AE5B1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902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A6C6-2A6D-6733-F969-A379FDA4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C94FE-8C4A-4D32-3547-786D69580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6BBE9-0108-7682-3055-DC62AEB6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6923-8FE2-A88F-33C5-C76152F4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50A2-D851-390A-C5F0-CF340D4C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8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ECDF-912B-25A1-26AC-0D785C0B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E36AE-55BD-8833-575B-07539B15B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23844-5556-1A05-3811-AB4D7C32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B68F4-9436-EC64-4FE3-C76886B5F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F50F6-73CB-9BBF-E81A-6B0C0BB1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753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B737-1009-8808-6F4E-3E9B0F6E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D8AC-AF94-8207-AED2-8F9EC1CEA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9A692-349E-CF5D-292D-D7383C413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DD1C7-0922-BA65-01DB-5C8914E7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10652-9351-1FE6-ED96-7AF31657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502B8-C073-E243-9ECE-78024D62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367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9C43-06DB-A137-1DF4-EB87C390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79256-6680-6DDB-EC63-F1726848F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205E-A225-8222-C06E-80E10A39E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93CAF-83CB-E537-D812-4BA0D2A91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7FE9E-760E-64AE-C763-C5183900F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CB6BF-45CE-7189-9710-7BB5B442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68F5F-02AB-8970-F3E9-E0E4CB87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7D4E7-6564-3BF5-2EB7-158F8ACC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840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84D6-49A3-1BA0-BB65-8FA6DF3B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89A89-909F-AE6A-4920-C1B8539D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6772E-7ADA-A62B-D181-C5B1DF52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9E42A-0251-8DDB-06F0-5A490BDC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753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99777-1C30-AD49-D803-9E406F72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9CAAC-76DC-25C1-435D-7C0CFA5A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FEF24-7C11-0EE7-E4FE-C595CE3C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932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1D0B-F240-CA0A-1524-000D4D35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51E8-4FBB-5B60-0793-E1BAE324A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40634-F34C-E856-4E19-1D7A39FC5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D9A30-5DF0-A9DD-24F8-7CE303D6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0DC28-8EEE-64CC-9FC9-42157801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53643-1B6A-355D-EE11-E4538EF6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4781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A1DC-49E4-75FE-6D55-BE536B5A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2246D-F1DF-8449-CF18-3B4050C6C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A6802-2157-85C6-1E05-04F5D45DA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52A04-6FD9-DD44-5020-9815DA9A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2082E-3A49-CDE0-F03E-8573E869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AC4DA-A058-756F-02B7-EC09D638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34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DED9-E518-8CD7-288B-88FAE75E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25079-91D6-A6F9-8DE8-66CFC57C4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05A4B-6BEE-4B8D-142E-213A4F35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1478-9038-7BDA-5A0A-DFD4709C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820E6-DE01-A640-9A32-CD19D9E7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81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477B7E-98D4-E834-DBFE-5463A7849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FDBC1-CD10-56AD-9646-FD1AA7EEC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DFD41-298A-C6E7-1F49-ED570F012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ED188-4E63-6459-7B19-DD6F3DDC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BA0A7-C94F-8634-92A9-97FCE99A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59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23CD96-6D20-D7E6-49F9-47A02394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37304-CD1A-DA3E-7A88-8832C4F6F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487D4-CA3E-6334-88B6-D0C4B6BA9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CD16B-04D0-46CE-ADE5-3439824C5E3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BFC87-F46C-4F84-AE87-408724FA4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EAF3-F1D5-9989-35A5-6BE354477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45087-4115-4D66-AD84-F890BD493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2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00E34-607F-7C7D-61CF-C02F55A4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D8573-645B-F768-97FD-ADAF8B76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01CB-8667-8B58-9E08-C371C7133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B33D2-2433-4D4D-96B1-CA5BC0AA242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5B52E-B054-BC64-5D6A-AA417EF68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591C7-FA85-1647-EE37-944C5EFC3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1B2F6-D6E7-44C4-A360-549D0F825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3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937">
              <a:alpha val="72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3698751" y="2552449"/>
            <a:ext cx="247650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4012394" y="2473868"/>
            <a:ext cx="11191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spc="500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ARGUS</a:t>
            </a:r>
          </a:p>
          <a:p>
            <a:pPr marL="0" indent="0" algn="ctr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197571" y="2552449"/>
            <a:ext cx="247650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78632" y="2759035"/>
            <a:ext cx="7986713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New Tai Lue" panose="020B0502040204020203" pitchFamily="34" charset="0"/>
                <a:ea typeface="Montserrat" pitchFamily="34" charset="-122"/>
                <a:cs typeface="Microsoft New Tai Lue" panose="020B0502040204020203" pitchFamily="34" charset="0"/>
              </a:rPr>
              <a:t>Civic Safety &amp; Urban Infrastructure Intelligence</a:t>
            </a:r>
            <a:endParaRPr lang="en-US" sz="2700" b="1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93181" y="3252800"/>
            <a:ext cx="3957638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spcBef>
                <a:spcPts val="975"/>
              </a:spcBef>
              <a:buNone/>
            </a:pPr>
            <a:r>
              <a:rPr lang="en-US" sz="1200" dirty="0">
                <a:solidFill>
                  <a:srgbClr val="D9E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Turning city signals into safer, smarter public action.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65210" y="4005341"/>
            <a:ext cx="747712" cy="300038"/>
          </a:xfrm>
          <a:prstGeom prst="roundRect">
            <a:avLst>
              <a:gd name="adj" fmla="val 38095"/>
            </a:avLst>
          </a:prstGeom>
          <a:solidFill>
            <a:srgbClr val="0B3D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00" b="1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</a:t>
            </a: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79649" y="4068612"/>
            <a:ext cx="9525" cy="1524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822412" y="4082900"/>
            <a:ext cx="92302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900" b="1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1</a:t>
            </a:r>
            <a:endParaRPr lang="en-US" sz="900" spc="300" dirty="0"/>
          </a:p>
        </p:txBody>
      </p:sp>
      <p:sp>
        <p:nvSpPr>
          <p:cNvPr id="13" name="Text 10"/>
          <p:cNvSpPr/>
          <p:nvPr/>
        </p:nvSpPr>
        <p:spPr>
          <a:xfrm>
            <a:off x="2700830" y="4490533"/>
            <a:ext cx="3957638" cy="2000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08"/>
              </a:lnSpc>
              <a:spcBef>
                <a:spcPts val="1425"/>
              </a:spcBef>
            </a:pPr>
            <a:r>
              <a:rPr lang="en-US" sz="8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· Satyam Tiwari ·  Arunesh Sharma · Manikya Nariyal · Palak Kulshrestha 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608868" y="370991"/>
            <a:ext cx="16002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PROBLEM STATEMENT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584522"/>
            <a:ext cx="7924800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Delayed reporting leaves everyday hazards unresolved: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0505" y="1360984"/>
            <a:ext cx="552926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Small gaps in the reporting workflow become visible risks across the city.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28750" y="2137938"/>
            <a:ext cx="6286500" cy="2671763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/>
          <a:effectLst>
            <a:outerShdw blurRad="200025" dist="85725" dir="5400000" algn="bl" rotWithShape="0">
              <a:srgbClr val="102A4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95450" y="2346334"/>
            <a:ext cx="5753100" cy="309562"/>
          </a:xfrm>
          <a:prstGeom prst="rect">
            <a:avLst/>
          </a:prstGeom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2351084"/>
            <a:ext cx="152400" cy="15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4621" y="2346334"/>
            <a:ext cx="2814638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B3D9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Where the current process breaks down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695450" y="2694223"/>
            <a:ext cx="5753100" cy="681038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1695450" y="2901376"/>
            <a:ext cx="257175" cy="257175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362" y="2963289"/>
            <a:ext cx="133350" cy="133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86918" y="2836863"/>
            <a:ext cx="36576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Hazards stay exposed longer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086918" y="3057114"/>
            <a:ext cx="3657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Potholes, fallen trees, and damaged roads go unaddressed.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695450" y="3377614"/>
            <a:ext cx="5753100" cy="681038"/>
          </a:xfrm>
          <a:prstGeom prst="rect">
            <a:avLst/>
          </a:prstGeom>
          <a:ln/>
        </p:spPr>
      </p:sp>
      <p:sp>
        <p:nvSpPr>
          <p:cNvPr id="17" name="Shape 13"/>
          <p:cNvSpPr/>
          <p:nvPr/>
        </p:nvSpPr>
        <p:spPr>
          <a:xfrm>
            <a:off x="1695450" y="3584772"/>
            <a:ext cx="257175" cy="257175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362" y="3646684"/>
            <a:ext cx="133350" cy="1333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86360" y="3520256"/>
            <a:ext cx="3738562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Duplicate reports create noise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2086360" y="3740510"/>
            <a:ext cx="37385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Citizens often report the same issue without shared visibility.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1695450" y="4268167"/>
            <a:ext cx="257175" cy="257175"/>
          </a:xfrm>
          <a:prstGeom prst="ellipse">
            <a:avLst/>
          </a:prstGeom>
          <a:solidFill>
            <a:srgbClr val="FFF4D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7362" y="4330080"/>
            <a:ext cx="133350" cy="1333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86273" y="4203649"/>
            <a:ext cx="38481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Manual triage slows action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2086273" y="4423903"/>
            <a:ext cx="38481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Prioritization takes time before response and repair can begin.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5450" y="2346334"/>
            <a:ext cx="5753100" cy="309562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95450" y="2694223"/>
            <a:ext cx="5753100" cy="681038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5450" y="3377614"/>
            <a:ext cx="5753100" cy="6810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25746"/>
            <a:ext cx="200025" cy="28575"/>
          </a:xfrm>
          <a:prstGeom prst="roundRect">
            <a:avLst>
              <a:gd name="adj" fmla="val 40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723615" y="370991"/>
            <a:ext cx="11287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PROJECT SCOPE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595387"/>
            <a:ext cx="8229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Project Scope &amp; Feasibility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049809"/>
            <a:ext cx="595312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825"/>
              </a:spcBef>
              <a:buNone/>
            </a:pPr>
            <a:r>
              <a:rPr lang="en-US" sz="12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Start with a tightly controlled pilot, then scale the intelligence layer across wider geographies.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070805"/>
            <a:ext cx="4000500" cy="2728913"/>
          </a:xfrm>
          <a:prstGeom prst="roundRect">
            <a:avLst>
              <a:gd name="adj" fmla="val 1637"/>
            </a:avLst>
          </a:prstGeom>
          <a:solidFill>
            <a:srgbClr val="EAF2F8"/>
          </a:solidFill>
          <a:ln/>
        </p:spPr>
      </p:sp>
      <p:sp>
        <p:nvSpPr>
          <p:cNvPr id="9" name="Shape 7"/>
          <p:cNvSpPr/>
          <p:nvPr/>
        </p:nvSpPr>
        <p:spPr>
          <a:xfrm>
            <a:off x="704850" y="2349698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0B3D9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416373"/>
            <a:ext cx="142875" cy="1428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7160" y="2297805"/>
            <a:ext cx="1766887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B3D9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Phase 1 Pilot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67160" y="2539492"/>
            <a:ext cx="17668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Focused, field-ready validation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4886" y="2861133"/>
            <a:ext cx="2095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44215" y="2839703"/>
            <a:ext cx="3109913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Geofenced to Kothri and VIT Bhopal campus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2970" y="3193031"/>
            <a:ext cx="1809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71438" y="3153618"/>
            <a:ext cx="3238500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Boundary supports high-quality ground-truth collection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4475311"/>
            <a:ext cx="114300" cy="114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75581" y="4463417"/>
            <a:ext cx="22288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0B3D9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Prove accuracy before expanding reach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686300" y="2070805"/>
            <a:ext cx="4000500" cy="2728913"/>
          </a:xfrm>
          <a:prstGeom prst="roundRect">
            <a:avLst>
              <a:gd name="adj" fmla="val 1637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02A43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33950" y="2349698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0F766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416373"/>
            <a:ext cx="142875" cy="142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96694" y="2297805"/>
            <a:ext cx="18859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Future Expansion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296694" y="2539492"/>
            <a:ext cx="18859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Broader coverage, richer context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933986" y="2860362"/>
            <a:ext cx="238125" cy="15414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5172112" y="2837979"/>
            <a:ext cx="326707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Core platform identifies, verifies, and prioritizes hazards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933838" y="3363823"/>
            <a:ext cx="1809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200538" y="3335906"/>
            <a:ext cx="3238500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Satellite imagery and GIS data extend the operating picture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4475311"/>
            <a:ext cx="114300" cy="1143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04767" y="4463417"/>
            <a:ext cx="27384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Scale the same decision engine beyond the pilot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70991"/>
            <a:ext cx="8229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LITERATURE FINDINGS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85862"/>
            <a:ext cx="8229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3D9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Research &amp; Literature Review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10766"/>
            <a:ext cx="561975" cy="33337"/>
          </a:xfrm>
          <a:prstGeom prst="roundRect">
            <a:avLst>
              <a:gd name="adj" fmla="val 342862"/>
            </a:avLst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456741" y="1634096"/>
            <a:ext cx="5253037" cy="3167063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/>
          <a:effectLst>
            <a:outerShdw blurRad="161925" dist="66675" dir="5400000" algn="bl" rotWithShape="0">
              <a:srgbClr val="0B3D91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898475"/>
            <a:ext cx="161925" cy="1619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1013" y="1881820"/>
            <a:ext cx="2428875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What the field already offers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2966" y="2228627"/>
            <a:ext cx="4700588" cy="6429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6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Open Earth-observation datasets, including Sentinel-2 and MODIS imagery, provide broad spatial coverage for monitoring environmental change and visible infrastructure risk.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2966" y="3023220"/>
            <a:ext cx="4700588" cy="6429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6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Historical civic reports add a critical local layer: they reveal recurring hazard hotspots that satellite imagery alone may not explain.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2966" y="4143970"/>
            <a:ext cx="4700588" cy="409575"/>
          </a:xfrm>
          <a:prstGeom prst="roundRect">
            <a:avLst>
              <a:gd name="adj" fmla="val 7788"/>
            </a:avLst>
          </a:prstGeom>
          <a:solidFill>
            <a:srgbClr val="EAF2F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" y="4277320"/>
            <a:ext cx="142875" cy="1428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7940" y="4267795"/>
            <a:ext cx="3533775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The evidence base is rich—but distributed across sources.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976476" y="1634096"/>
            <a:ext cx="2709863" cy="3167063"/>
          </a:xfrm>
          <a:prstGeom prst="roundRect">
            <a:avLst>
              <a:gd name="adj" fmla="val 1423"/>
            </a:avLst>
          </a:prstGeom>
          <a:solidFill>
            <a:srgbClr val="0B3D9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567" y="1879425"/>
            <a:ext cx="161925" cy="1619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2761" y="1862770"/>
            <a:ext cx="16764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The unresolved gap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567" y="2224236"/>
            <a:ext cx="85725" cy="857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47951" y="2190651"/>
            <a:ext cx="212883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Current systems lack multimodal verification.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567" y="2695226"/>
            <a:ext cx="85725" cy="857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47951" y="2661641"/>
            <a:ext cx="212883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Few solutions combine ground photos with satellite context.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6186026" y="3885504"/>
            <a:ext cx="2290762" cy="685800"/>
          </a:xfrm>
          <a:prstGeom prst="rect">
            <a:avLst/>
          </a:prstGeom>
          <a:ln/>
        </p:spPr>
      </p:sp>
      <p:sp>
        <p:nvSpPr>
          <p:cNvPr id="23" name="Text 16"/>
          <p:cNvSpPr/>
          <p:nvPr/>
        </p:nvSpPr>
        <p:spPr>
          <a:xfrm>
            <a:off x="6186026" y="4052439"/>
            <a:ext cx="229076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9EDBD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RESEARCH OPPORTUNITY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186026" y="4224585"/>
            <a:ext cx="2290762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Connect place-based testimony with scalable earth observation.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966" y="4143970"/>
            <a:ext cx="4700588" cy="409575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026" y="3885504"/>
            <a:ext cx="229076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61466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CIVIC INTELLIGENCE / METHODOLOGY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8150" y="576337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Methodology &amp; AI Pipeline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150" y="1019336"/>
            <a:ext cx="82677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From a citizen report to a trusted, location-aware safety signal.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150" y="1761727"/>
            <a:ext cx="5734050" cy="3048000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/>
          <a:effectLst>
            <a:outerShdw blurRad="142875" dist="57150" dir="5400000" algn="bl" rotWithShape="0">
              <a:srgbClr val="102A43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6333" y="1971822"/>
            <a:ext cx="205263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Signal processing path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697" y="2009924"/>
            <a:ext cx="119062" cy="1190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77578" y="1990874"/>
            <a:ext cx="124777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Public safety by design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" y="2330722"/>
            <a:ext cx="5238750" cy="581025"/>
          </a:xfrm>
          <a:prstGeom prst="roundRect">
            <a:avLst>
              <a:gd name="adj" fmla="val 25800"/>
            </a:avLst>
          </a:prstGeom>
          <a:solidFill>
            <a:srgbClr val="EA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828675" y="2463303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0B3D9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31" y="2532359"/>
            <a:ext cx="138113" cy="1381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28725" y="2463241"/>
            <a:ext cx="45529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 Capture the real-world signal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228725" y="2644986"/>
            <a:ext cx="45529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Citizen submits a photo with GPS location and timestamp.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85800" y="3018059"/>
            <a:ext cx="5238750" cy="581025"/>
          </a:xfrm>
          <a:prstGeom prst="roundRect">
            <a:avLst>
              <a:gd name="adj" fmla="val 25800"/>
            </a:avLst>
          </a:prstGeom>
          <a:solidFill>
            <a:srgbClr val="F1F8F6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675" y="3150640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0F766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731" y="3219696"/>
            <a:ext cx="138113" cy="1381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28725" y="3150578"/>
            <a:ext cx="45529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 Understand and de-duplicate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228725" y="3332323"/>
            <a:ext cx="45529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OpenCV and PyTorch classify hazards; embeddings and GPS proximity find repeat reports.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85800" y="3705399"/>
            <a:ext cx="5238750" cy="581025"/>
          </a:xfrm>
          <a:prstGeom prst="roundRect">
            <a:avLst>
              <a:gd name="adj" fmla="val 25800"/>
            </a:avLst>
          </a:prstGeom>
          <a:solidFill>
            <a:srgbClr val="FFF6E5"/>
          </a:solidFill>
          <a:ln/>
        </p:spPr>
      </p:sp>
      <p:sp>
        <p:nvSpPr>
          <p:cNvPr id="22" name="Shape 17"/>
          <p:cNvSpPr/>
          <p:nvPr/>
        </p:nvSpPr>
        <p:spPr>
          <a:xfrm>
            <a:off x="828675" y="3837980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F59E0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731" y="3907036"/>
            <a:ext cx="138113" cy="1381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8725" y="3837918"/>
            <a:ext cx="45529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03 Add context and prioritize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228725" y="4019660"/>
            <a:ext cx="45529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Satellite context turns the signal into severity and safety scores.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479131"/>
            <a:ext cx="119062" cy="1190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2319" y="4467225"/>
            <a:ext cx="34480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B3D9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Result: one actionable record, grounded in place and time.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419850" y="1761727"/>
            <a:ext cx="2286000" cy="3048000"/>
          </a:xfrm>
          <a:prstGeom prst="roundRect">
            <a:avLst>
              <a:gd name="adj" fmla="val 2333"/>
            </a:avLst>
          </a:prstGeom>
          <a:solidFill>
            <a:srgbClr val="0B3D91"/>
          </a:solidFill>
          <a:ln/>
        </p:spPr>
      </p:sp>
      <p:sp>
        <p:nvSpPr>
          <p:cNvPr id="29" name="Text 22"/>
          <p:cNvSpPr/>
          <p:nvPr/>
        </p:nvSpPr>
        <p:spPr>
          <a:xfrm>
            <a:off x="6610350" y="1971810"/>
            <a:ext cx="1905000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700" b="1" dirty="0">
                <a:solidFill>
                  <a:srgbClr val="7DD3F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WHY THIS PIPELINE MATTERS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6610350" y="2197347"/>
            <a:ext cx="1905000" cy="4143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Every layer adds confidence.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6610350" y="2716746"/>
            <a:ext cx="1905000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00" dirty="0">
                <a:solidFill>
                  <a:srgbClr val="EAF2F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Human input starts the signal. AI and geospatial context make it useful for action.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6610350" y="3225960"/>
            <a:ext cx="1905000" cy="1119188"/>
          </a:xfrm>
          <a:prstGeom prst="roundRect">
            <a:avLst>
              <a:gd name="adj" fmla="val 6953"/>
            </a:avLst>
          </a:prstGeom>
          <a:solidFill>
            <a:srgbClr val="FFFFFF"/>
          </a:solidFill>
          <a:ln/>
        </p:spPr>
      </p:sp>
      <p:sp>
        <p:nvSpPr>
          <p:cNvPr id="33" name="Text 26"/>
          <p:cNvSpPr/>
          <p:nvPr/>
        </p:nvSpPr>
        <p:spPr>
          <a:xfrm>
            <a:off x="6734175" y="3360227"/>
            <a:ext cx="1657350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7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Trust architecture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734175" y="3556346"/>
            <a:ext cx="165735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6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Evidence → interpretation → prioritization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6734175" y="3950715"/>
            <a:ext cx="1657350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7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Transparent inputs support safer public decisions.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4410991"/>
            <a:ext cx="128588" cy="128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05613" y="4349080"/>
            <a:ext cx="1709737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Built for responsible civic response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37096" y="370991"/>
            <a:ext cx="18954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TECH STACK &amp; RESOURCES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8038" y="585862"/>
            <a:ext cx="5219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stack built for real-world scale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150" y="1011709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Modern geospatial, backend, and AI capabilities — engineered for scalable, containerized deployment.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44" y="1994605"/>
            <a:ext cx="2614613" cy="2843213"/>
          </a:xfrm>
          <a:prstGeom prst="roundRect">
            <a:avLst>
              <a:gd name="adj" fmla="val 1784"/>
            </a:avLst>
          </a:prstGeom>
          <a:solidFill>
            <a:srgbClr val="FFFFFF"/>
          </a:solidFill>
          <a:ln/>
          <a:effectLst>
            <a:outerShdw blurRad="161925" dist="66675" dir="5400000" algn="bl" rotWithShape="0">
              <a:srgbClr val="102A4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700" y="2212800"/>
            <a:ext cx="361950" cy="361950"/>
          </a:xfrm>
          <a:prstGeom prst="roundRect">
            <a:avLst>
              <a:gd name="adj" fmla="val 16620"/>
            </a:avLst>
          </a:prstGeom>
          <a:solidFill>
            <a:srgbClr val="EAF2F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2303287"/>
            <a:ext cx="180975" cy="1809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8494" y="2697857"/>
            <a:ext cx="2195513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Frontend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8494" y="2973400"/>
            <a:ext cx="2195513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8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responsive interface for exploring live geospatial intelligence with clarity.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8494" y="4242197"/>
            <a:ext cx="21955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•</a:t>
            </a:r>
            <a:r>
              <a:rPr lang="en-US" sz="9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Next.js + React foundation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8494" y="4482703"/>
            <a:ext cx="21955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•</a:t>
            </a:r>
            <a:r>
              <a:rPr lang="en-US" sz="9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Leaflet and Mapbox mapping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64692" y="1994605"/>
            <a:ext cx="2614613" cy="2843213"/>
          </a:xfrm>
          <a:prstGeom prst="roundRect">
            <a:avLst>
              <a:gd name="adj" fmla="val 1784"/>
            </a:avLst>
          </a:prstGeom>
          <a:solidFill>
            <a:srgbClr val="0B3D91"/>
          </a:solidFill>
          <a:ln/>
          <a:effectLst>
            <a:outerShdw blurRad="180975" dist="85725" dir="5400000" algn="bl" rotWithShape="0">
              <a:srgbClr val="0B3D91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3448" y="2212800"/>
            <a:ext cx="361950" cy="361950"/>
          </a:xfrm>
          <a:prstGeom prst="roundRect">
            <a:avLst>
              <a:gd name="adj" fmla="val 16620"/>
            </a:avLst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936" y="2303287"/>
            <a:ext cx="180975" cy="1809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242" y="2697857"/>
            <a:ext cx="2195513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Backend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474242" y="2973400"/>
            <a:ext cx="2195513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8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dependable data and service layer designed for resilient operations.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474242" y="4242197"/>
            <a:ext cx="21955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•</a:t>
            </a: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FastAPI service layer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74242" y="4482703"/>
            <a:ext cx="21955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•</a:t>
            </a: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PostgreSQL/PostGIS + Docker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090441" y="1994605"/>
            <a:ext cx="2614613" cy="2843213"/>
          </a:xfrm>
          <a:prstGeom prst="roundRect">
            <a:avLst>
              <a:gd name="adj" fmla="val 1784"/>
            </a:avLst>
          </a:prstGeom>
          <a:solidFill>
            <a:srgbClr val="EAF2F8"/>
          </a:solidFill>
          <a:ln/>
          <a:effectLst>
            <a:outerShdw blurRad="161925" dist="66675" dir="5400000" algn="bl" rotWithShape="0">
              <a:srgbClr val="102A43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99197" y="2212800"/>
            <a:ext cx="361950" cy="361950"/>
          </a:xfrm>
          <a:prstGeom prst="roundRect">
            <a:avLst>
              <a:gd name="adj" fmla="val 16620"/>
            </a:avLst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684" y="2303287"/>
            <a:ext cx="180975" cy="1809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99991" y="2697857"/>
            <a:ext cx="2195513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AI / ML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299991" y="2973400"/>
            <a:ext cx="2195513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8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Practical computer vision and machine learning for actionable insights.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6299991" y="4242197"/>
            <a:ext cx="21955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•</a:t>
            </a:r>
            <a:r>
              <a:rPr lang="en-US" sz="9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Scikit-learn + PyTorch models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299991" y="4482703"/>
            <a:ext cx="21955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•</a:t>
            </a:r>
            <a:r>
              <a:rPr lang="en-US" sz="900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OpenCV computer vision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3804" y="4899012"/>
            <a:ext cx="119062" cy="11906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48645" y="4899012"/>
            <a:ext cx="38576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B3D9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Containerized by design — ready to scale from prototype to production.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19100" y="342416"/>
            <a:ext cx="83058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PROTOTYPE EVIDENCE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9100" y="547762"/>
            <a:ext cx="83058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Initial Prototypes &amp; Work Done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9100" y="961951"/>
            <a:ext cx="55245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From field imagery to a working civic-safety dashboard concept.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8430" y="1728155"/>
            <a:ext cx="3538538" cy="3109913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42875" dist="57150" dir="5400000" algn="bl" rotWithShape="0">
              <a:srgbClr val="102A43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030" y="2289224"/>
            <a:ext cx="3081338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275"/>
              </a:spcAft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What moved from idea to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7700" y="2633067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EAF2F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69" y="2687836"/>
            <a:ext cx="119062" cy="1190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0405" y="2632112"/>
            <a:ext cx="2747962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Field image collection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0405" y="2826990"/>
            <a:ext cx="2747962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Initial image data gathered around Kothri and campus.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7700" y="330381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E6F4F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69" y="3358579"/>
            <a:ext cx="119062" cy="1190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0405" y="3302855"/>
            <a:ext cx="2747962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MVP dashboard drafted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80405" y="3497734"/>
            <a:ext cx="2747962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Live map, hotspots, baseline classification, and backlog views are taking shape.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47030" y="4011935"/>
            <a:ext cx="3081338" cy="266700"/>
          </a:xfrm>
          <a:prstGeom prst="rect">
            <a:avLst/>
          </a:prstGeom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4154809"/>
            <a:ext cx="104775" cy="1047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625" y="4142829"/>
            <a:ext cx="26140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14"/>
              </a:lnSpc>
              <a:spcBef>
                <a:spcPts val="1575"/>
              </a:spcBef>
              <a:buNone/>
            </a:pPr>
            <a:r>
              <a:rPr lang="en-US" sz="800" b="1" dirty="0">
                <a:solidFill>
                  <a:srgbClr val="0B3D9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usable foundation for the next validation cycle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223668" y="1728155"/>
            <a:ext cx="4500563" cy="3109913"/>
          </a:xfrm>
          <a:prstGeom prst="roundRect">
            <a:avLst>
              <a:gd name="adj" fmla="val 1081"/>
            </a:avLst>
          </a:prstGeom>
          <a:solidFill>
            <a:srgbClr val="EAF2F8"/>
          </a:solidFill>
          <a:ln/>
          <a:effectLst>
            <a:outerShdw blurRad="142875" dist="57150" dir="5400000" algn="bl" rotWithShape="0">
              <a:srgbClr val="102A43">
                <a:alpha val="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413225" y="1898017"/>
            <a:ext cx="1490663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Prototype workspace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818872" y="1921818"/>
            <a:ext cx="7143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EARLY BUILD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018" y="2164159"/>
            <a:ext cx="4233863" cy="228123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413498" y="4592241"/>
            <a:ext cx="47625" cy="4762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19"/>
          <p:cNvSpPr/>
          <p:nvPr/>
        </p:nvSpPr>
        <p:spPr>
          <a:xfrm>
            <a:off x="4518298" y="4549378"/>
            <a:ext cx="36290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Screens and workflows are ready to test against real field conditions.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030" y="4011935"/>
            <a:ext cx="30813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70991"/>
            <a:ext cx="8229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PROJECT PROGRESS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76337"/>
            <a:ext cx="8229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Adherence to Project Plan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92188"/>
            <a:ext cx="8229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From validated foundations to predictive maintenance and dashboard analytics.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074639"/>
            <a:ext cx="5543550" cy="719137"/>
          </a:xfrm>
          <a:prstGeom prst="roundRect">
            <a:avLst>
              <a:gd name="adj" fmla="val 18526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02A43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175" y="2277045"/>
            <a:ext cx="314325" cy="314325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5850" y="2227523"/>
            <a:ext cx="44386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Completed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5850" y="2459918"/>
            <a:ext cx="44386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Problem definition, literature review, and data gathering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2353245"/>
            <a:ext cx="161925" cy="1619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2925192"/>
            <a:ext cx="5543550" cy="719137"/>
          </a:xfrm>
          <a:prstGeom prst="roundRect">
            <a:avLst>
              <a:gd name="adj" fmla="val 18526"/>
            </a:avLst>
          </a:prstGeom>
          <a:solidFill>
            <a:srgbClr val="EAF2F8"/>
          </a:solidFill>
          <a:ln/>
        </p:spPr>
      </p:sp>
      <p:sp>
        <p:nvSpPr>
          <p:cNvPr id="13" name="Text 10"/>
          <p:cNvSpPr/>
          <p:nvPr/>
        </p:nvSpPr>
        <p:spPr>
          <a:xfrm>
            <a:off x="638175" y="3127598"/>
            <a:ext cx="314325" cy="314325"/>
          </a:xfrm>
          <a:prstGeom prst="ellipse">
            <a:avLst/>
          </a:prstGeom>
          <a:solidFill>
            <a:srgbClr val="0B3D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85850" y="3078075"/>
            <a:ext cx="44386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Review 2 focus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85850" y="3310471"/>
            <a:ext cx="44386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Finalize the report and show CV components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3203798"/>
            <a:ext cx="161925" cy="16192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3775745"/>
            <a:ext cx="5543550" cy="719137"/>
          </a:xfrm>
          <a:prstGeom prst="roundRect">
            <a:avLst>
              <a:gd name="adj" fmla="val 18526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02A43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8175" y="3978151"/>
            <a:ext cx="314325" cy="314325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085850" y="3928628"/>
            <a:ext cx="44386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Phase 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085850" y="4161023"/>
            <a:ext cx="44386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Predictive maintenance and dashboard analytics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4054351"/>
            <a:ext cx="161925" cy="16192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305550" y="1767916"/>
            <a:ext cx="2381250" cy="3033712"/>
          </a:xfrm>
          <a:prstGeom prst="roundRect">
            <a:avLst>
              <a:gd name="adj" fmla="val 1997"/>
            </a:avLst>
          </a:prstGeom>
          <a:solidFill>
            <a:srgbClr val="0B3D91"/>
          </a:solidFill>
          <a:ln/>
        </p:spPr>
      </p:sp>
      <p:sp>
        <p:nvSpPr>
          <p:cNvPr id="23" name="Text 18"/>
          <p:cNvSpPr/>
          <p:nvPr/>
        </p:nvSpPr>
        <p:spPr>
          <a:xfrm>
            <a:off x="6505575" y="1997062"/>
            <a:ext cx="19812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PLAN TRAJECTORY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505575" y="2248495"/>
            <a:ext cx="1981200" cy="995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Build the evidence first. Scale the intelligence next.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505575" y="3357661"/>
            <a:ext cx="352425" cy="28575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054078"/>
            <a:ext cx="152400" cy="1524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43700" y="4053483"/>
            <a:ext cx="1743075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The next milestone connects documented findings to an operational analytics view.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58217" y="399566"/>
            <a:ext cx="65913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CONCLUSION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8217" y="604912"/>
            <a:ext cx="65913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credible path from pilot to public value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532" y="438150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59276" y="447675"/>
            <a:ext cx="15525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Feasibility → trust → scale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495946"/>
            <a:ext cx="8229600" cy="1323975"/>
          </a:xfrm>
          <a:prstGeom prst="roundRect">
            <a:avLst>
              <a:gd name="adj" fmla="val 6956"/>
            </a:avLst>
          </a:prstGeom>
          <a:solidFill>
            <a:srgbClr val="0B3D91"/>
          </a:solidFill>
          <a:ln/>
        </p:spPr>
      </p:sp>
      <p:sp>
        <p:nvSpPr>
          <p:cNvPr id="9" name="Text 6"/>
          <p:cNvSpPr/>
          <p:nvPr/>
        </p:nvSpPr>
        <p:spPr>
          <a:xfrm>
            <a:off x="3955255" y="1773709"/>
            <a:ext cx="12334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0"/>
              </a:lnSpc>
              <a:buNone/>
            </a:pPr>
            <a:r>
              <a:rPr lang="en-US" sz="800" b="1" dirty="0">
                <a:solidFill>
                  <a:srgbClr val="9EDBD6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THE CLOSING CASE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90625" y="2013620"/>
            <a:ext cx="6762750" cy="509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3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“A focused pilot turns uncertain signals into reliable ground truth—then builds the confidence to deploy at municipal scale.”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3095588"/>
            <a:ext cx="2609850" cy="139065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3287241"/>
            <a:ext cx="161925" cy="1619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5111" y="3284860"/>
            <a:ext cx="10001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Start focused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7225" y="3554884"/>
            <a:ext cx="22098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focused pilot enables reliable ground-truth learning.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67075" y="3095588"/>
            <a:ext cx="2609850" cy="1390650"/>
          </a:xfrm>
          <a:prstGeom prst="roundRect">
            <a:avLst>
              <a:gd name="adj" fmla="val 4954"/>
            </a:avLst>
          </a:prstGeom>
          <a:solidFill>
            <a:srgbClr val="EAF2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3287241"/>
            <a:ext cx="161925" cy="1619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15097" y="3284860"/>
            <a:ext cx="7429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Earn trust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467100" y="3554884"/>
            <a:ext cx="22098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Multimodal verification improves trust and prioritization.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076950" y="3095588"/>
            <a:ext cx="2609850" cy="139065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3287241"/>
            <a:ext cx="161925" cy="1619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23881" y="3284860"/>
            <a:ext cx="10096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Build to scale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276975" y="3554884"/>
            <a:ext cx="22098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Phase 1 builds toward scalable municipal deployment.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57200" y="4731544"/>
            <a:ext cx="561975" cy="23812"/>
          </a:xfrm>
          <a:prstGeom prst="roundRect">
            <a:avLst>
              <a:gd name="adj" fmla="val 480010"/>
            </a:avLst>
          </a:prstGeom>
          <a:solidFill>
            <a:srgbClr val="0F766E"/>
          </a:solidFill>
          <a:ln/>
        </p:spPr>
      </p:sp>
      <p:sp>
        <p:nvSpPr>
          <p:cNvPr id="24" name="Text 18"/>
          <p:cNvSpPr/>
          <p:nvPr/>
        </p:nvSpPr>
        <p:spPr>
          <a:xfrm>
            <a:off x="5630067" y="4686300"/>
            <a:ext cx="30575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practical foundation for safer, smarter civic operations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6950" y="3095588"/>
            <a:ext cx="2609850" cy="1390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755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Microsoft New Tai Lue</vt:lpstr>
      <vt:lpstr>Montserrat</vt:lpstr>
      <vt:lpstr>Office Theme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IN26012909 Manikya N</cp:lastModifiedBy>
  <cp:revision>3</cp:revision>
  <dcterms:created xsi:type="dcterms:W3CDTF">2026-09-08T05:16:46Z</dcterms:created>
  <dcterms:modified xsi:type="dcterms:W3CDTF">2026-09-08T07:15:53Z</dcterms:modified>
</cp:coreProperties>
</file>